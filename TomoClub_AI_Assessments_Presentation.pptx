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486400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17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000" b="1">
                <a:solidFill>
                  <a:srgbClr val="FFFFFF"/>
                </a:solidFill>
                <a:latin typeface="Outfit"/>
              </a:defRPr>
            </a:pPr>
            <a:r>
              <a:t>Designing Smarter Classrooms:</a:t>
            </a:r>
          </a:p>
          <a:p>
            <a:pPr>
              <a:defRPr sz="4000" b="1">
                <a:solidFill>
                  <a:srgbClr val="22D3EE"/>
                </a:solidFill>
                <a:latin typeface="Outfit"/>
              </a:defRPr>
            </a:pPr>
            <a:r>
              <a:t>AI Use in Assessments &amp; Personalisation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D1D5DB"/>
                </a:solidFill>
                <a:latin typeface="Inter"/>
              </a:defRPr>
            </a:pPr>
            <a:r>
              <a:t>Session Flow &amp; Curriculum Design Proposal for K-12 Educators</a:t>
            </a:r>
          </a:p>
          <a:p>
            <a:pPr>
              <a:defRPr sz="1300" b="1">
                <a:solidFill>
                  <a:srgbClr val="818CF8"/>
                </a:solidFill>
                <a:latin typeface="Inter"/>
              </a:defRPr>
            </a:pPr>
            <a:r>
              <a:t>Prepared for: TomoClub Selection Committee    |    By: Pramit 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The K-12 Educator Trilemma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Inter"/>
              </a:defRPr>
            </a:pPr>
            <a:r>
              <a:t>Why educators struggle with assessment and differentiation in the AI 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364992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18CF8"/>
                </a:solidFill>
                <a:latin typeface="Outfit"/>
              </a:defRPr>
            </a:pPr>
            <a:r>
              <a:t>🚨 Severe Workload Burnout</a:t>
            </a:r>
          </a:p>
          <a:p>
            <a:pPr>
              <a:lnSpc>
                <a:spcPct val="130000"/>
              </a:lnSpc>
              <a:defRPr sz="1300">
                <a:solidFill>
                  <a:srgbClr val="D1D5DB"/>
                </a:solidFill>
                <a:latin typeface="Inter"/>
              </a:defRPr>
            </a:pPr>
            <a:r>
              <a:t>Teachers spend upwards of 10+ hours a week grading, designing rubrics, and lesson planning, leaving them exhausted and reducing active face-to-face classroom relationship building.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1828800"/>
            <a:ext cx="336499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2D3EE"/>
                </a:solidFill>
                <a:latin typeface="Outfit"/>
              </a:defRPr>
            </a:pPr>
            <a:r>
              <a:t>🧩 The Personalisation Gap</a:t>
            </a:r>
          </a:p>
          <a:p>
            <a:pPr>
              <a:lnSpc>
                <a:spcPct val="130000"/>
              </a:lnSpc>
              <a:defRPr sz="1300">
                <a:solidFill>
                  <a:srgbClr val="D1D5DB"/>
                </a:solidFill>
                <a:latin typeface="Inter"/>
              </a:defRPr>
            </a:pPr>
            <a:r>
              <a:t>With over 30+ students per K-12 classroom, manual differentiation is virtually impossible. Accommodating diverse profiles remains a paper checklist rather than active classroom reality.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7304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47304" y="1828800"/>
            <a:ext cx="336499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BBF24"/>
                </a:solidFill>
                <a:latin typeface="Outfit"/>
              </a:defRPr>
            </a:pPr>
            <a:r>
              <a:t>🛡️ The Academic Integrity Crisis</a:t>
            </a:r>
          </a:p>
          <a:p>
            <a:pPr>
              <a:lnSpc>
                <a:spcPct val="130000"/>
              </a:lnSpc>
              <a:defRPr sz="1300">
                <a:solidFill>
                  <a:srgbClr val="D1D5DB"/>
                </a:solidFill>
                <a:latin typeface="Inter"/>
              </a:defRPr>
            </a:pPr>
            <a:r>
              <a:t>Plagiarism software produces false positives and is easily bypassed. Trying to lock students out of AI locks schools into a surveillance battle, rather than process grading.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Workshop Overview &amp; Parameters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Outfit"/>
              </a:defRPr>
            </a:pPr>
            <a:r>
              <a:t>Session Core Specs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Target Audience:</a:t>
            </a:r>
          </a:p>
          <a:p>
            <a:pPr>
              <a:spcAft>
                <a:spcPts val="8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   K-12 Educators, Instructional Leads, Administrators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Session Duration:</a:t>
            </a:r>
          </a:p>
          <a:p>
            <a:pPr>
              <a:spcAft>
                <a:spcPts val="8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   120 Minutes (2 Hours) - Perfect for active sandboxes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Delivery Style:</a:t>
            </a:r>
          </a:p>
          <a:p>
            <a:pPr>
              <a:spcAft>
                <a:spcPts val="8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   Blended / Collaborative (Max Hands-on Activity)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Key Pedagogy:</a:t>
            </a:r>
          </a:p>
          <a:p>
            <a:pPr>
              <a:spcAft>
                <a:spcPts val="8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   The Sandwich Model: Action -&gt; Theory -&gt; Action -&gt; Review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• Key Resource:</a:t>
            </a:r>
          </a:p>
          <a:p>
            <a:pPr>
              <a:spcAft>
                <a:spcPts val="8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   Classroom Prompt Sandbox and Assessment Folder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818CF8"/>
                </a:solidFill>
                <a:latin typeface="Outfit"/>
              </a:defRPr>
            </a:pPr>
            <a:r>
              <a:t>Why This Session Model Works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⚡ Active Engagement over Passive Listening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Traditional PD lectures fail to translate into classroom practice. We keep direct slide presentation under 20 minutes, allocating the remaining 100 minutes to active creation, prompt testing, and peer auditing.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⚡ Direct Utility &amp; Classroom-Ready Outcomes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Every teacher leaves the session with at least one custom, standards-aligned assessment prompt and a multi-level differentiated reading package ready for their students next morning.</a:t>
            </a:r>
          </a:p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⚡ Combines Technological &amp; Critical Literacy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Rather than just teaching 'how to copy prompts', we emphasize 'Critical AI Auditing', showing teachers how to check outputs for hallucinations and level adjustments.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Learning Objectives (Bloom's Taxonomy)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3364992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Outfit"/>
              </a:defRPr>
            </a:pPr>
            <a:r>
              <a:t>1. UNDERSTAND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Outfit"/>
              </a:defRPr>
            </a:pPr>
            <a:r>
              <a:t>Shift in Assessment Philosophy</a:t>
            </a:r>
          </a:p>
          <a:p>
            <a:pPr>
              <a:lnSpc>
                <a:spcPct val="130000"/>
              </a:lnSpc>
              <a:defRPr sz="1200">
                <a:solidFill>
                  <a:srgbClr val="D1D5DB"/>
                </a:solidFill>
                <a:latin typeface="Inter"/>
              </a:defRPr>
            </a:pPr>
            <a:r>
              <a:t>Educators will analyze the structural shift from grading 'product' (essays, static tests) to grading 'process' (concept outlines, oral defenses, local prompt adaptations), allowing them to design robust, AI-resistant assessment strategies.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16552" y="1828800"/>
            <a:ext cx="336499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Outfit"/>
              </a:defRPr>
            </a:pPr>
            <a:r>
              <a:t>2. APPLY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Outfit"/>
              </a:defRPr>
            </a:pPr>
            <a:r>
              <a:t>Direct Prompt Sandbox Design</a:t>
            </a:r>
          </a:p>
          <a:p>
            <a:pPr>
              <a:lnSpc>
                <a:spcPct val="130000"/>
              </a:lnSpc>
              <a:defRPr sz="1200">
                <a:solidFill>
                  <a:srgbClr val="D1D5DB"/>
                </a:solidFill>
                <a:latin typeface="Inter"/>
              </a:defRPr>
            </a:pPr>
            <a:r>
              <a:t>Educators will construct high-fidelity, role-based AI prompt templates that automatically generate formative quizzes, multi-level reading passages, and customized grading rubrics aligned directly with grade-appropriate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47304" y="1828800"/>
            <a:ext cx="336499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Outfit"/>
              </a:defRPr>
            </a:pPr>
            <a:r>
              <a:t>3. EVALUATE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Outfit"/>
              </a:defRPr>
            </a:pPr>
            <a:r>
              <a:t>Critical AI Output Auditing</a:t>
            </a:r>
          </a:p>
          <a:p>
            <a:pPr>
              <a:lnSpc>
                <a:spcPct val="130000"/>
              </a:lnSpc>
              <a:defRPr sz="1200">
                <a:solidFill>
                  <a:srgbClr val="D1D5DB"/>
                </a:solidFill>
                <a:latin typeface="Inter"/>
              </a:defRPr>
            </a:pPr>
            <a:r>
              <a:t>Educators will critique AI-generated outputs for potential hallucinations, grade-level vocabulary mismatches, and hidden societal biases, mastering the core skill of human-in-the-loop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Workshop Session Flow (120 Mins)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291840"/>
            <a:ext cx="108173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3127248"/>
            <a:ext cx="365760" cy="3657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21D"/>
                </a:solidFill>
                <a:latin typeface="Outfit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645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18CF8"/>
                </a:solidFill>
                <a:latin typeface="Outfit"/>
              </a:defRPr>
            </a:pPr>
            <a:r>
              <a:t>15 Mins</a:t>
            </a:r>
          </a:p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The Hook &amp; Perceptions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5720" y="3657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D1D5DB"/>
                </a:solidFill>
                <a:latin typeface="Inter"/>
              </a:defRPr>
            </a:pPr>
            <a:r>
              <a:t>Pre-session Mentimeter checking comfort levels.</a:t>
            </a:r>
          </a:p>
        </p:txBody>
      </p:sp>
      <p:sp>
        <p:nvSpPr>
          <p:cNvPr id="8" name="Oval 7"/>
          <p:cNvSpPr/>
          <p:nvPr/>
        </p:nvSpPr>
        <p:spPr>
          <a:xfrm>
            <a:off x="2569464" y="3127248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21D"/>
                </a:solidFill>
                <a:latin typeface="Outfit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0824" y="1645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Outfit"/>
              </a:defRPr>
            </a:pPr>
            <a:r>
              <a:t>20 Mins</a:t>
            </a:r>
          </a:p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Mini-Input Prompting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4" y="3657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D1D5DB"/>
                </a:solidFill>
                <a:latin typeface="Inter"/>
              </a:defRPr>
            </a:pPr>
            <a:r>
              <a:t>Pedagogical role, context, and standard alignment.</a:t>
            </a:r>
          </a:p>
        </p:txBody>
      </p:sp>
      <p:sp>
        <p:nvSpPr>
          <p:cNvPr id="11" name="Oval 10"/>
          <p:cNvSpPr/>
          <p:nvPr/>
        </p:nvSpPr>
        <p:spPr>
          <a:xfrm>
            <a:off x="4453128" y="3127248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21D"/>
                </a:solidFill>
                <a:latin typeface="Outfit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1645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Outfit"/>
              </a:defRPr>
            </a:pPr>
            <a:r>
              <a:t>30 Mins</a:t>
            </a:r>
          </a:p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Assessment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657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D1D5DB"/>
                </a:solidFill>
                <a:latin typeface="Inter"/>
              </a:defRPr>
            </a:pPr>
            <a:r>
              <a:t>Cooperative grade breakout prompt engineering.</a:t>
            </a:r>
          </a:p>
        </p:txBody>
      </p:sp>
      <p:sp>
        <p:nvSpPr>
          <p:cNvPr id="14" name="Oval 13"/>
          <p:cNvSpPr/>
          <p:nvPr/>
        </p:nvSpPr>
        <p:spPr>
          <a:xfrm>
            <a:off x="6336792" y="3127248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21D"/>
                </a:solidFill>
                <a:latin typeface="Outfit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1645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Outfit"/>
              </a:defRPr>
            </a:pPr>
            <a:r>
              <a:t>25 Mins</a:t>
            </a:r>
          </a:p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Personalisation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3657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D1D5DB"/>
                </a:solidFill>
                <a:latin typeface="Inter"/>
              </a:defRPr>
            </a:pPr>
            <a:r>
              <a:t>Scaffolding same science topic for 3 student pathways.</a:t>
            </a:r>
          </a:p>
        </p:txBody>
      </p:sp>
      <p:sp>
        <p:nvSpPr>
          <p:cNvPr id="17" name="Oval 16"/>
          <p:cNvSpPr/>
          <p:nvPr/>
        </p:nvSpPr>
        <p:spPr>
          <a:xfrm>
            <a:off x="8220456" y="3127248"/>
            <a:ext cx="365760" cy="3657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21D"/>
                </a:solidFill>
                <a:latin typeface="Outfit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6" y="1645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18CF8"/>
                </a:solidFill>
                <a:latin typeface="Outfit"/>
              </a:defRPr>
            </a:pPr>
            <a:r>
              <a:t>15 Mins</a:t>
            </a:r>
          </a:p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Integrity &amp; Safety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3657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D1D5DB"/>
                </a:solidFill>
                <a:latin typeface="Inter"/>
              </a:defRPr>
            </a:pPr>
            <a:r>
              <a:t>Process grading over surveillance and data privacy.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3127248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21D"/>
                </a:solidFill>
                <a:latin typeface="Outfit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645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Outfit"/>
              </a:defRPr>
            </a:pPr>
            <a:r>
              <a:t>15 Mins</a:t>
            </a:r>
          </a:p>
          <a:p>
            <a:pPr algn="ctr">
              <a:defRPr sz="1200" b="1">
                <a:solidFill>
                  <a:srgbClr val="FFFFFF"/>
                </a:solidFill>
                <a:latin typeface="Outfit"/>
              </a:defRPr>
            </a:pPr>
            <a:r>
              <a:t>Action &amp; Reflections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657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D1D5DB"/>
                </a:solidFill>
                <a:latin typeface="Inter"/>
              </a:defRPr>
            </a:pPr>
            <a:r>
              <a:t>Google Exit Ticket, async portfolio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Sandbox 1: Assessment Prompt Battle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818CF8"/>
                </a:solidFill>
                <a:latin typeface="Outfit"/>
              </a:defRPr>
            </a:pPr>
            <a:r>
              <a:t>Cooperative Breakout Mechanics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🎯 Objective: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Design a custom quiz or assessment rubric targeting standard-aligned topics.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🎯 Interactive Sandbox: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Teachers use the dashboard builder, changing Grade, Subject, and Format dropdowns to dynamically compile role-based prompts.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🎯 The 'Battle' Challenge: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Groups copy the compiled prompt, generate the quiz in Claude/ChatGPT, and must perform a 'Critical AI Audit'—making at least 3 manual edits to the output to fix grade levels, bias, or wording.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🎯 Collaborative Sharing:</a:t>
            </a:r>
          </a:p>
          <a:p>
            <a:pPr>
              <a:spcAft>
                <a:spcPts val="8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Polished rubrics are uploaded to Padlet for live critique by the facilitator and other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Outfit"/>
              </a:defRPr>
            </a:pPr>
            <a:r>
              <a:t>Role-Based AI Prompt Template</a:t>
            </a:r>
          </a:p>
          <a:p>
            <a:pPr>
              <a:lnSpc>
                <a:spcPct val="130000"/>
              </a:lnSpc>
              <a:defRPr sz="1200" i="1">
                <a:solidFill>
                  <a:srgbClr val="34D399"/>
                </a:solidFill>
                <a:latin typeface="Inter"/>
              </a:defRPr>
            </a:pPr>
            <a:r>
              <a:t>"Act as an expert K-12 curriculum designer. Create a standards-aligned Grade 8 assessment for Science: Photosynthesis.</a:t>
            </a:r>
            <a:br/>
            <a:br/>
            <a:r>
              <a:t>The output must be a 5-question multiple choice quiz with detailed rubrics. Ensure the reading level is age-appropriate, vocabulary is aligned with Next Generation Science Standards (NGSS), and include common misconceptions in distractor choices.</a:t>
            </a:r>
            <a:br/>
            <a:br/>
            <a:r>
              <a:t>Do not include generic questions; make all distractors highly plausible."</a:t>
            </a:r>
          </a:p>
          <a:p>
            <a:br/>
            <a:pPr>
              <a:defRPr sz="1200">
                <a:solidFill>
                  <a:srgbClr val="D1D5DB"/>
                </a:solidFill>
                <a:latin typeface="Inter"/>
              </a:defRPr>
            </a:pPr>
            <a:r>
              <a:t>💡 Refinement Checklist:</a:t>
            </a:r>
            <a:br/>
            <a:r>
              <a:t>1. Did the AI define roles and standard limits?</a:t>
            </a:r>
            <a:br/>
            <a:r>
              <a:t>2. Did you test for distractor plausibility?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Sandbox 2: Differentiating a Core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2D3EE"/>
                </a:solidFill>
                <a:latin typeface="Outfit"/>
              </a:defRPr>
            </a:pPr>
            <a:r>
              <a:t>The Differentiated Classroom Challenge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Goal: Differentiate a single core concept (e.g. Ecosystem Disturbances) for three distinct student profiles:</a:t>
            </a:r>
          </a:p>
          <a:p>
            <a:pPr>
              <a:spcAft>
                <a:spcPts val="100"/>
              </a:spcAft>
              <a:defRPr sz="1200" b="1">
                <a:solidFill>
                  <a:srgbClr val="818CF8"/>
                </a:solidFill>
                <a:latin typeface="Inter"/>
              </a:defRPr>
            </a:pPr>
            <a:r>
              <a:t>• Profile A: Struggling Reader (Lexile 600L)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   Needs simplified vocabulary, shorter sentences, and direct visual/analogical scaffolding to grasp core concepts.</a:t>
            </a:r>
          </a:p>
          <a:p>
            <a:pPr>
              <a:spcAft>
                <a:spcPts val="100"/>
              </a:spcAft>
              <a:defRPr sz="1200" b="1">
                <a:solidFill>
                  <a:srgbClr val="34D399"/>
                </a:solidFill>
                <a:latin typeface="Inter"/>
              </a:defRPr>
            </a:pPr>
            <a:r>
              <a:t>• Profile B: Multilingual Learner (ELL Level 2)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   Needs dual-language vocabulary list, sentence starters, and bulleted process steps to show scientific understanding.</a:t>
            </a:r>
          </a:p>
          <a:p>
            <a:pPr>
              <a:spcAft>
                <a:spcPts val="100"/>
              </a:spcAft>
              <a:defRPr sz="1200" b="1">
                <a:solidFill>
                  <a:srgbClr val="FBBF24"/>
                </a:solidFill>
                <a:latin typeface="Inter"/>
              </a:defRPr>
            </a:pPr>
            <a:r>
              <a:t>• Profile C: Advanced / Gifted Student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   Needs high-rigor inquiry prompt exploring open mathematical modeling of ecosystem disruptions and self-guided extension.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818CF8"/>
                </a:solidFill>
                <a:latin typeface="Outfit"/>
              </a:defRPr>
            </a:pPr>
            <a:r>
              <a:t>AI Prompt Template for Differentiation</a:t>
            </a:r>
          </a:p>
          <a:p>
            <a:pPr>
              <a:lnSpc>
                <a:spcPct val="130000"/>
              </a:lnSpc>
              <a:spcAft>
                <a:spcPts val="1500"/>
              </a:spcAft>
              <a:defRPr sz="1100" i="1">
                <a:solidFill>
                  <a:srgbClr val="34D399"/>
                </a:solidFill>
                <a:latin typeface="Inter"/>
              </a:defRPr>
            </a:pPr>
            <a:r>
              <a:t>"Differentiate the science topic 'Ecosystem Disturbances' for Grade 7. Generate three versions of the reading passage:</a:t>
            </a:r>
            <a:br/>
            <a:br/>
            <a:r>
              <a:t>1. Simplified vocabulary at 600L Lexile with graphic organizer scaffold.</a:t>
            </a:r>
            <a:br/>
            <a:r>
              <a:t>2. Language scaffolded with bold academic key terms and sentence starters.</a:t>
            </a:r>
            <a:br/>
            <a:r>
              <a:t>3. High-rigor extension prompt analyzing competitive species dynamics."</a:t>
            </a:r>
          </a:p>
          <a:p>
            <a:pPr>
              <a:lnSpc>
                <a:spcPct val="120000"/>
              </a:lnSpc>
              <a:defRPr sz="1100" b="1">
                <a:solidFill>
                  <a:srgbClr val="FBBF24"/>
                </a:solidFill>
                <a:latin typeface="Inter"/>
              </a:defRPr>
            </a:pPr>
            <a:r>
              <a:t>⚡ Crucial Reflective Question:</a:t>
            </a:r>
            <a:br/>
            <a:r>
              <a:t>"How do we use AI to remove barriers without removing the productive cognitive struggle required for real learning?"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Academic Integrity &amp; Responsible AI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818CF8"/>
                </a:solidFill>
                <a:latin typeface="Outfit"/>
              </a:defRPr>
            </a:pPr>
            <a:r>
              <a:t>Pedagogical Workarounds (Process &gt; Product)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🛡️ Ditch Plagiarism Detectors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AI writing detectors are easily bypassed by paraphrasing and exhibit heavy bias against non-native speakers, leading to false cheating accusations.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🛡️ Grade the Process Path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Integrate structured checks: assess brainstorming outlines, handwritten drafts, research logs, and require short 2-minute oral defenses in class.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🛡️ Hyper-Local Assessments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Align questions to unique classroom dialogues, field trips, local community events, or specific analog artifacts that AI engines cannot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BBF24"/>
                </a:solidFill>
                <a:latin typeface="Outfit"/>
              </a:defRPr>
            </a:pPr>
            <a:r>
              <a:t>Responsible AI Safety Checklist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🔒 Absolute Student Data Privacy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Never upload student PII (names, emails, grades, student work) to open generative AI tools. Keep student records secure and offline.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🔒 Human-in-the-Loop Verification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AI is a co-pilot, not the pilot. Always audit and review generated rubrics or quizzes for accuracy, bias, and grade level before class.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🔒 Transparent Student Boundaries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Establish clear guidelines. Let students know exactly when AI use is authorized (e.g. brainstorming) vs. when it is prohibited (e.g. core thinking).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Monitoring, Evaluation &amp; Learning (Live)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3364992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Outfit"/>
              </a:defRPr>
            </a:pPr>
            <a:r>
              <a:t>Pre-Session Diagnostic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Outfit"/>
              </a:defRPr>
            </a:pPr>
            <a:r>
              <a:t>Mentimeter Perceptions</a:t>
            </a:r>
          </a:p>
          <a:p>
            <a:pPr>
              <a:lnSpc>
                <a:spcPct val="130000"/>
              </a:lnSpc>
              <a:defRPr sz="1200">
                <a:solidFill>
                  <a:srgbClr val="D1D5DB"/>
                </a:solidFill>
                <a:latin typeface="Inter"/>
              </a:defRPr>
            </a:pPr>
            <a:r>
              <a:t>Conducted in first 15 mins. Gauges baseline comfort levels and specific concerns regarding assessment safety. Facilitator adjusts session focus in real-time based on live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16552" y="1828800"/>
            <a:ext cx="336499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  <a:latin typeface="Outfit"/>
              </a:defRPr>
            </a:pPr>
            <a:r>
              <a:t>In-Session Deliverables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Outfit"/>
              </a:defRPr>
            </a:pPr>
            <a:r>
              <a:t>Facilitator Review Rubric</a:t>
            </a:r>
          </a:p>
          <a:p>
            <a:pPr>
              <a:lnSpc>
                <a:spcPct val="130000"/>
              </a:lnSpc>
              <a:defRPr sz="1200">
                <a:solidFill>
                  <a:srgbClr val="D1D5DB"/>
                </a:solidFill>
                <a:latin typeface="Inter"/>
              </a:defRPr>
            </a:pPr>
            <a:r>
              <a:t>During Sandbox breakouts, the facilitator reviews the live collaborative Padlet using a 3-star checklist:</a:t>
            </a:r>
            <a:br/>
            <a:r>
              <a:t>1. Standard limitation?</a:t>
            </a:r>
            <a:br/>
            <a:r>
              <a:t>2. Defined role?</a:t>
            </a:r>
            <a:br/>
            <a:r>
              <a:t>3. Audited corrections?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1828800"/>
            <a:ext cx="3364992" cy="3931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47304" y="1828800"/>
            <a:ext cx="336499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03120"/>
            <a:ext cx="29077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Outfit"/>
              </a:defRPr>
            </a:pPr>
            <a:r>
              <a:t>Post-Session Exit Ticket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Outfit"/>
              </a:defRPr>
            </a:pPr>
            <a:r>
              <a:t>Learning Transfer Metrics</a:t>
            </a:r>
          </a:p>
          <a:p>
            <a:pPr>
              <a:lnSpc>
                <a:spcPct val="130000"/>
              </a:lnSpc>
              <a:defRPr sz="1200">
                <a:solidFill>
                  <a:srgbClr val="D1D5DB"/>
                </a:solidFill>
                <a:latin typeface="Inter"/>
              </a:defRPr>
            </a:pPr>
            <a:r>
              <a:t>Conducted via Google Forms in the final 15 minutes. Evaluates self-reported confidence shifts and objective mastery. Target completion rate: 85%+ with average confidence gain of 1.5+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MEL: Async Portfolios &amp; Long-Term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4D399"/>
                </a:solidFill>
                <a:latin typeface="Outfit"/>
              </a:defRPr>
            </a:pPr>
            <a:r>
              <a:t>Classroom AI Adaptation Folder</a:t>
            </a:r>
          </a:p>
          <a:p>
            <a:pPr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To guarantee learning transfer and secure PD certification, educators submit a portfolio folder within 14 days of the session containing: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• One Co-Created Assessment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   A standards-aligned quiz or rubric, with explicit highlights showing where human-in-the-loop corrections were made.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• One Differentiated Accommodating Set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   A core classroom text or concept scaffolded into three distinct versions corresponding to our student profiles.</a:t>
            </a:r>
          </a:p>
          <a:p>
            <a:pPr>
              <a:spcAft>
                <a:spcPts val="10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• A Critical Reflection Prompt Log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   Reflective log documenting: What worked, what failed, how the AI output was modified, and student feedback on the assessment.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463040"/>
            <a:ext cx="5120640" cy="4297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Outfit"/>
              </a:defRPr>
            </a:pPr>
            <a:r>
              <a:t>90-Day Success &amp; Impact Metrics</a:t>
            </a:r>
          </a:p>
          <a:p>
            <a:pPr>
              <a:spcAft>
                <a:spcPts val="100"/>
              </a:spcAft>
              <a:defRPr sz="1200" b="1">
                <a:solidFill>
                  <a:srgbClr val="818CF8"/>
                </a:solidFill>
                <a:latin typeface="Inter"/>
              </a:defRPr>
            </a:pPr>
            <a:r>
              <a:t>📈 Workload Reduction Index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Target: Over 3+ hours saved per week on grading and planning. Measured via 30 and 90-day survey diagnostics.</a:t>
            </a:r>
          </a:p>
          <a:p>
            <a:pPr>
              <a:spcAft>
                <a:spcPts val="100"/>
              </a:spcAft>
              <a:defRPr sz="1200" b="1">
                <a:solidFill>
                  <a:srgbClr val="34D399"/>
                </a:solidFill>
                <a:latin typeface="Inter"/>
              </a:defRPr>
            </a:pPr>
            <a:r>
              <a:t>📈 Personalisation Adoption Rate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Target: Over 70% of participating teachers actively integrating differentiated pathways monthly in core instruction.</a:t>
            </a:r>
          </a:p>
          <a:p>
            <a:pPr>
              <a:spcAft>
                <a:spcPts val="100"/>
              </a:spcAft>
              <a:defRPr sz="1200" b="1">
                <a:solidFill>
                  <a:srgbClr val="FBBF24"/>
                </a:solidFill>
                <a:latin typeface="Inter"/>
              </a:defRPr>
            </a:pPr>
            <a:r>
              <a:t>📈 Process-Oriented Grading Shift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00">
                <a:solidFill>
                  <a:srgbClr val="D1D5DB"/>
                </a:solidFill>
                <a:latin typeface="Inter"/>
              </a:defRPr>
            </a:pPr>
            <a:r>
              <a:t>Qualitative review of school portfolio submissions showing a 40%+ increase in process-oriented grading rubrics.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Sync vs. Async Format Adaptations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120640" cy="429768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818CF8"/>
                </a:solidFill>
                <a:latin typeface="Outfit"/>
              </a:defRPr>
            </a:pPr>
            <a:r>
              <a:t>Synchronous Format (Live)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👥 Live Breakout Rooms: Grade-level cooperative groups work in real-time, screen-sharing prompt builders.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👥 Real-Time Chat &amp; Checks: Facilitator uses interactive chat checks and Mentimeter diagnostic polling.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👥 Collaborative Prompt Battle: Breakouts compete to build and audit the most standards-aligned rubrics on Padlet.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👥 Immediate Peer Critique: Group representatives present prompts, followed by active feedback sessions.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463040"/>
            <a:ext cx="5120640" cy="429768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459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Outfit"/>
              </a:defRPr>
            </a:pPr>
            <a:r>
              <a:t>Asynchronous Format (Self-Paced)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💻 6 Modular Micro-Videos: 120 minutes broken into 6 short interactive videos with embedded check-in checks using Edpuzzle.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💻 Individual Sandbox Builders: Teachers use self-paced prompt worksheets to compile custom prompts locally.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💻 Peer-Review Discussion Boards: Group breakouts are replaced by discussion boards where educators peer-review two colleagues' prompts.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D1D5DB"/>
                </a:solidFill>
                <a:latin typeface="Inter"/>
              </a:defRPr>
            </a:pPr>
            <a:r>
              <a:t>💻 Standards Aligned Portfolio: Both formats submit the exact same adaptation portfolio to achieve PD certification.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4864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17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000" b="1">
                <a:solidFill>
                  <a:srgbClr val="FFFFFF"/>
                </a:solidFill>
                <a:latin typeface="Outfit"/>
              </a:defRPr>
            </a:pPr>
            <a:r>
              <a:t>Empowering Teachers.</a:t>
            </a:r>
          </a:p>
          <a:p>
            <a:pPr>
              <a:defRPr sz="4000" b="1">
                <a:solidFill>
                  <a:srgbClr val="818CF8"/>
                </a:solidFill>
                <a:latin typeface="Outfit"/>
              </a:defRPr>
            </a:pPr>
            <a:r>
              <a:t>Designing Future-Ready Classrooms.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600" i="1">
                <a:solidFill>
                  <a:srgbClr val="D1D5DB"/>
                </a:solidFill>
                <a:latin typeface="Inter"/>
              </a:defRPr>
            </a:pPr>
            <a:r>
              <a:t>"By positioning AI as a collaborative, ethical co-pilot, we reduce teacher burnout, make individual personalization accessible, and allow educators to focus on what they do best: building meaningful human relationships."</a:t>
            </a:r>
          </a:p>
          <a:p>
            <a:pPr>
              <a:defRPr sz="1400" b="1">
                <a:solidFill>
                  <a:srgbClr val="FBBF24"/>
                </a:solidFill>
                <a:latin typeface="Inter"/>
              </a:defRPr>
            </a:pPr>
            <a:r>
              <a:t>Join us in reshaping professional development.    |    Q&amp;A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Inter"/>
              </a:defRPr>
            </a:pPr>
            <a:r>
              <a:t>TomoClub | Curriculum Design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818CF8"/>
                </a:solidFill>
                <a:latin typeface="Outfit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