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1371600"/>
            <a:ext cx="4114800" cy="4114800"/>
          </a:xfrm>
          <a:prstGeom prst="ellipse">
            <a:avLst/>
          </a:prstGeom>
          <a:solidFill>
            <a:srgbClr val="141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1645920"/>
            <a:ext cx="2926080" cy="36576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CURRICULUM DEVELOPMENT ASSIGNMENT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94560"/>
            <a:ext cx="108173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Trebuchet MS"/>
              </a:defRPr>
            </a:pPr>
            <a:r>
              <a:t>Designing Smarter Classrooms:</a:t>
            </a:r>
          </a:p>
          <a:p>
            <a:pPr>
              <a:spcBef>
                <a:spcPts val="1000"/>
              </a:spcBef>
              <a:defRPr sz="2800" b="1">
                <a:solidFill>
                  <a:srgbClr val="06B6D4"/>
                </a:solidFill>
                <a:latin typeface="Trebuchet MS"/>
              </a:defRPr>
            </a:pPr>
            <a:r>
              <a:t>AI Use in Assessments &amp; Personalized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572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CA3AF"/>
                </a:solidFill>
                <a:latin typeface="Arial"/>
              </a:defRPr>
            </a:pPr>
            <a:r>
              <a:t>Prepared for: TomoClub Selection Committee</a:t>
            </a:r>
          </a:p>
          <a:p>
            <a:pPr>
              <a:spcBef>
                <a:spcPts val="400"/>
              </a:spcBef>
              <a:defRPr sz="1100" b="1">
                <a:solidFill>
                  <a:srgbClr val="06B6D4"/>
                </a:solidFill>
                <a:latin typeface="Arial"/>
              </a:defRPr>
            </a:pPr>
            <a:r>
              <a:t>By: Pramit Das | Curriculum Specialist Proposal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6B6D4"/>
                </a:solidFill>
                <a:latin typeface="Arial"/>
              </a:defRPr>
            </a:pPr>
            <a:r>
              <a:t>TOMOCLUB CURRICULUM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173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The Educator's Context: The Assessment Trilemma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3291840" cy="3840480"/>
          </a:xfrm>
          <a:prstGeom prst="roundRect">
            <a:avLst/>
          </a:prstGeom>
          <a:solidFill>
            <a:srgbClr val="151B2B"/>
          </a:solidFill>
          <a:ln w="12700">
            <a:solidFill>
              <a:srgbClr val="26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645920"/>
            <a:ext cx="3291840" cy="1097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6366F1"/>
                </a:solidFill>
                <a:latin typeface="Trebuchet MS"/>
              </a:defRPr>
            </a:pPr>
            <a:r>
              <a:t>1. Workload Burnout</a:t>
            </a:r>
          </a:p>
          <a:p>
            <a:pPr>
              <a:lnSpc>
                <a:spcPct val="130000"/>
              </a:lnSpc>
              <a:defRPr sz="1200">
                <a:solidFill>
                  <a:srgbClr val="9CA3AF"/>
                </a:solidFill>
                <a:latin typeface="Arial"/>
              </a:defRPr>
            </a:pPr>
            <a:r>
              <a:t>Teachers are overwhelmed by administrative strain, spending up to 10+ hours per week grading, drafting rubrics, and preparing individualized lessons.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645920"/>
            <a:ext cx="3291840" cy="3840480"/>
          </a:xfrm>
          <a:prstGeom prst="roundRect">
            <a:avLst/>
          </a:prstGeom>
          <a:solidFill>
            <a:srgbClr val="151B2B"/>
          </a:solidFill>
          <a:ln w="12700">
            <a:solidFill>
              <a:srgbClr val="26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34840" y="1645920"/>
            <a:ext cx="3291840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920240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6B6D4"/>
                </a:solidFill>
                <a:latin typeface="Trebuchet MS"/>
              </a:defRPr>
            </a:pPr>
            <a:r>
              <a:t>2. The Personalisation Gap</a:t>
            </a:r>
          </a:p>
          <a:p>
            <a:pPr>
              <a:lnSpc>
                <a:spcPct val="130000"/>
              </a:lnSpc>
              <a:defRPr sz="1200">
                <a:solidFill>
                  <a:srgbClr val="9CA3AF"/>
                </a:solidFill>
                <a:latin typeface="Arial"/>
              </a:defRPr>
            </a:pPr>
            <a:r>
              <a:t>Differentiating instruction for 30+ students in a standard classroom is manually impossible, resulting in marginalized high-need and gifted learners.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1645920"/>
            <a:ext cx="3291840" cy="3840480"/>
          </a:xfrm>
          <a:prstGeom prst="roundRect">
            <a:avLst/>
          </a:prstGeom>
          <a:solidFill>
            <a:srgbClr val="151B2B"/>
          </a:solidFill>
          <a:ln w="12700">
            <a:solidFill>
              <a:srgbClr val="26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83880" y="1645920"/>
            <a:ext cx="3291840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920240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59E0B"/>
                </a:solidFill>
                <a:latin typeface="Trebuchet MS"/>
              </a:defRPr>
            </a:pPr>
            <a:r>
              <a:t>3. The Academic Integrity Crisis</a:t>
            </a:r>
          </a:p>
          <a:p>
            <a:pPr>
              <a:lnSpc>
                <a:spcPct val="130000"/>
              </a:lnSpc>
              <a:defRPr sz="1200">
                <a:solidFill>
                  <a:srgbClr val="9CA3AF"/>
                </a:solidFill>
                <a:latin typeface="Arial"/>
              </a:defRPr>
            </a:pPr>
            <a:r>
              <a:t>The rise of generative AI has sparked anxiety, prompting schools into an ineffective 'arms race' utilizing inaccurate AI plagiarism detectors.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6B6D4"/>
                </a:solidFill>
                <a:latin typeface="Arial"/>
              </a:defRPr>
            </a:pPr>
            <a:r>
              <a:t>TOMOCLUB CURRICULUM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173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Workshop Target &amp; Design Framework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45920"/>
          <a:ext cx="10817352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7891272"/>
              </a:tblGrid>
              <a:tr h="768096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defRPr sz="1300" b="1">
                          <a:solidFill>
                            <a:srgbClr val="06B6D4"/>
                          </a:solidFill>
                          <a:latin typeface="Arial"/>
                        </a:defRPr>
                      </a:pPr>
                      <a:r>
                        <a:t>Session Title</a:t>
                      </a:r>
                    </a:p>
                  </a:txBody>
                  <a:tcPr>
                    <a:solidFill>
                      <a:srgbClr val="151B2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Designing Smarter Classrooms: AI Use in Assessments &amp; Personalisation</a:t>
                      </a:r>
                    </a:p>
                  </a:txBody>
                  <a:tcPr>
                    <a:solidFill>
                      <a:srgbClr val="151B2B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defRPr sz="1300" b="1">
                          <a:solidFill>
                            <a:srgbClr val="06B6D4"/>
                          </a:solidFill>
                          <a:latin typeface="Arial"/>
                        </a:defRPr>
                      </a:pPr>
                      <a:r>
                        <a:t>Target Audience</a:t>
                      </a:r>
                    </a:p>
                  </a:txBody>
                  <a:tcPr>
                    <a:solidFill>
                      <a:srgbClr val="151B2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K-12 Educators, Instructional Designers, School &amp; District Leaders</a:t>
                      </a:r>
                    </a:p>
                  </a:txBody>
                  <a:tcPr>
                    <a:solidFill>
                      <a:srgbClr val="151B2B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defRPr sz="1300" b="1">
                          <a:solidFill>
                            <a:srgbClr val="06B6D4"/>
                          </a:solidFill>
                          <a:latin typeface="Arial"/>
                        </a:defRPr>
                      </a:pPr>
                      <a:r>
                        <a:t>Recommended Duration</a:t>
                      </a:r>
                    </a:p>
                  </a:txBody>
                  <a:tcPr>
                    <a:solidFill>
                      <a:srgbClr val="151B2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120 Minutes (2-Hour Block) — The cognitive sweet spot for practical learning transfer.</a:t>
                      </a:r>
                    </a:p>
                  </a:txBody>
                  <a:tcPr>
                    <a:solidFill>
                      <a:srgbClr val="151B2B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defRPr sz="1300" b="1">
                          <a:solidFill>
                            <a:srgbClr val="06B6D4"/>
                          </a:solidFill>
                          <a:latin typeface="Arial"/>
                        </a:defRPr>
                      </a:pPr>
                      <a:r>
                        <a:t>Key Strategy</a:t>
                      </a:r>
                    </a:p>
                  </a:txBody>
                  <a:tcPr>
                    <a:solidFill>
                      <a:srgbClr val="151B2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Active 'Sandwich' Model (Theory 20% / Hands-On Practice 55% / Peer Reflection 25%)</a:t>
                      </a:r>
                    </a:p>
                  </a:txBody>
                  <a:tcPr>
                    <a:solidFill>
                      <a:srgbClr val="151B2B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defRPr sz="1300" b="1">
                          <a:solidFill>
                            <a:srgbClr val="06B6D4"/>
                          </a:solidFill>
                          <a:latin typeface="Arial"/>
                        </a:defRPr>
                      </a:pPr>
                      <a:r>
                        <a:t>Session Deliverable</a:t>
                      </a:r>
                    </a:p>
                  </a:txBody>
                  <a:tcPr>
                    <a:solidFill>
                      <a:srgbClr val="151B2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 live classroom-ready AI Assessment and a 3-tier Differentiated Pathway Folder.</a:t>
                      </a:r>
                    </a:p>
                  </a:txBody>
                  <a:tcPr>
                    <a:solidFill>
                      <a:srgbClr val="151B2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6B6D4"/>
                </a:solidFill>
                <a:latin typeface="Arial"/>
              </a:defRPr>
            </a:pPr>
            <a:r>
              <a:t>TOMOCLUB CURRICULUM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173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Standards-Aligned Learning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3291840" cy="3840480"/>
          </a:xfrm>
          <a:prstGeom prst="roundRect">
            <a:avLst/>
          </a:prstGeom>
          <a:solidFill>
            <a:srgbClr val="151B2B"/>
          </a:solidFill>
          <a:ln w="12700">
            <a:solidFill>
              <a:srgbClr val="26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2024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UNDERSTAND (COGNITIVE)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29260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Trebuchet MS"/>
              </a:defRPr>
            </a:pPr>
            <a:r>
              <a:t>Pedagogical Shift</a:t>
            </a:r>
          </a:p>
          <a:p>
            <a:pPr>
              <a:lnSpc>
                <a:spcPct val="135000"/>
              </a:lnSpc>
              <a:defRPr sz="1250">
                <a:solidFill>
                  <a:srgbClr val="9CA3AF"/>
                </a:solidFill>
                <a:latin typeface="Arial"/>
              </a:defRPr>
            </a:pPr>
            <a:r>
              <a:t>Educators will define the paradigm shift from traditional product-based grading to process-oriented, AI-resistant assessment strategies that secure academic integrity.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645920"/>
            <a:ext cx="3291840" cy="3840480"/>
          </a:xfrm>
          <a:prstGeom prst="roundRect">
            <a:avLst/>
          </a:prstGeom>
          <a:solidFill>
            <a:srgbClr val="151B2B"/>
          </a:solidFill>
          <a:ln w="12700">
            <a:solidFill>
              <a:srgbClr val="26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92024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APPLY (SKILLS)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377440"/>
            <a:ext cx="29260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Trebuchet MS"/>
              </a:defRPr>
            </a:pPr>
            <a:r>
              <a:t>Prompt Crafting</a:t>
            </a:r>
          </a:p>
          <a:p>
            <a:pPr>
              <a:lnSpc>
                <a:spcPct val="135000"/>
              </a:lnSpc>
              <a:defRPr sz="1250">
                <a:solidFill>
                  <a:srgbClr val="9CA3AF"/>
                </a:solidFill>
                <a:latin typeface="Arial"/>
              </a:defRPr>
            </a:pPr>
            <a:r>
              <a:t>Educators will design standards-aligned assessment rubrics and differentiate a core curriculum pathway across three reading levels using advanced, role-based prompting.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1645920"/>
            <a:ext cx="3291840" cy="3840480"/>
          </a:xfrm>
          <a:prstGeom prst="roundRect">
            <a:avLst/>
          </a:prstGeom>
          <a:solidFill>
            <a:srgbClr val="151B2B"/>
          </a:solidFill>
          <a:ln w="12700">
            <a:solidFill>
              <a:srgbClr val="26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192024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Arial"/>
              </a:defRPr>
            </a:pPr>
            <a:r>
              <a:t>EVALUATE (CRITICAL)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377440"/>
            <a:ext cx="29260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Trebuchet MS"/>
              </a:defRPr>
            </a:pPr>
            <a:r>
              <a:t>Critical AI Auditing</a:t>
            </a:r>
          </a:p>
          <a:p>
            <a:pPr>
              <a:lnSpc>
                <a:spcPct val="135000"/>
              </a:lnSpc>
              <a:defRPr sz="1250">
                <a:solidFill>
                  <a:srgbClr val="9CA3AF"/>
                </a:solidFill>
                <a:latin typeface="Arial"/>
              </a:defRPr>
            </a:pPr>
            <a:r>
              <a:t>Educators will audit and revise AI-generated outputs for potential hallucinations, safety standards, data privacy, and grade-appropriate readability.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6B6D4"/>
                </a:solidFill>
                <a:latin typeface="Arial"/>
              </a:defRPr>
            </a:pPr>
            <a:r>
              <a:t>TOMOCLUB CURRICULUM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173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The 120-Minute Session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926080"/>
            <a:ext cx="10817352" cy="36576"/>
          </a:xfrm>
          <a:prstGeom prst="rect">
            <a:avLst/>
          </a:prstGeom>
          <a:solidFill>
            <a:srgbClr val="26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80160" y="2807208"/>
            <a:ext cx="274320" cy="27432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1168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366F1"/>
                </a:solidFill>
                <a:latin typeface="Trebuchet MS"/>
              </a:defRPr>
            </a:pPr>
            <a:r>
              <a:t>00-15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91840"/>
            <a:ext cx="1554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Trebuchet MS"/>
              </a:defRPr>
            </a:pPr>
            <a:r>
              <a:t>1. The Hook</a:t>
            </a:r>
          </a:p>
          <a:p>
            <a:pPr algn="ctr">
              <a:lnSpc>
                <a:spcPct val="120000"/>
              </a:lnSpc>
              <a:defRPr sz="1050">
                <a:solidFill>
                  <a:srgbClr val="9CA3AF"/>
                </a:solidFill>
                <a:latin typeface="Arial"/>
              </a:defRPr>
            </a:pPr>
            <a:r>
              <a:t>Pre-survey &amp; perceptions check.</a:t>
            </a:r>
          </a:p>
        </p:txBody>
      </p:sp>
      <p:sp>
        <p:nvSpPr>
          <p:cNvPr id="8" name="Oval 7"/>
          <p:cNvSpPr/>
          <p:nvPr/>
        </p:nvSpPr>
        <p:spPr>
          <a:xfrm>
            <a:off x="3108960" y="2807208"/>
            <a:ext cx="274320" cy="2743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4600" y="201168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B6D4"/>
                </a:solidFill>
                <a:latin typeface="Trebuchet MS"/>
              </a:defRPr>
            </a:pPr>
            <a:r>
              <a:t>15-35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3291840"/>
            <a:ext cx="1554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Trebuchet MS"/>
              </a:defRPr>
            </a:pPr>
            <a:r>
              <a:t>2. Mini-Input</a:t>
            </a:r>
          </a:p>
          <a:p>
            <a:pPr algn="ctr">
              <a:lnSpc>
                <a:spcPct val="120000"/>
              </a:lnSpc>
              <a:defRPr sz="1050">
                <a:solidFill>
                  <a:srgbClr val="9CA3AF"/>
                </a:solidFill>
                <a:latin typeface="Arial"/>
              </a:defRPr>
            </a:pPr>
            <a:r>
              <a:t>Pedagogy shift &amp; prompt structure.</a:t>
            </a:r>
          </a:p>
        </p:txBody>
      </p:sp>
      <p:sp>
        <p:nvSpPr>
          <p:cNvPr id="11" name="Oval 10"/>
          <p:cNvSpPr/>
          <p:nvPr/>
        </p:nvSpPr>
        <p:spPr>
          <a:xfrm>
            <a:off x="4937760" y="2807208"/>
            <a:ext cx="274320" cy="2743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201168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B6D4"/>
                </a:solidFill>
                <a:latin typeface="Trebuchet MS"/>
              </a:defRPr>
            </a:pPr>
            <a:r>
              <a:t>35-65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3291840"/>
            <a:ext cx="1554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Trebuchet MS"/>
              </a:defRPr>
            </a:pPr>
            <a:r>
              <a:t>3. Sandbox 1</a:t>
            </a:r>
          </a:p>
          <a:p>
            <a:pPr algn="ctr">
              <a:lnSpc>
                <a:spcPct val="120000"/>
              </a:lnSpc>
              <a:defRPr sz="1050">
                <a:solidFill>
                  <a:srgbClr val="9CA3AF"/>
                </a:solidFill>
                <a:latin typeface="Arial"/>
              </a:defRPr>
            </a:pPr>
            <a:r>
              <a:t>Prompt battle: Assessment design.</a:t>
            </a:r>
          </a:p>
        </p:txBody>
      </p:sp>
      <p:sp>
        <p:nvSpPr>
          <p:cNvPr id="14" name="Oval 13"/>
          <p:cNvSpPr/>
          <p:nvPr/>
        </p:nvSpPr>
        <p:spPr>
          <a:xfrm>
            <a:off x="6766560" y="2807208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01168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Trebuchet MS"/>
              </a:defRPr>
            </a:pPr>
            <a:r>
              <a:t>65-90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3291840"/>
            <a:ext cx="1554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Trebuchet MS"/>
              </a:defRPr>
            </a:pPr>
            <a:r>
              <a:t>4. Sandbox 2</a:t>
            </a:r>
          </a:p>
          <a:p>
            <a:pPr algn="ctr">
              <a:lnSpc>
                <a:spcPct val="120000"/>
              </a:lnSpc>
              <a:defRPr sz="1050">
                <a:solidFill>
                  <a:srgbClr val="9CA3AF"/>
                </a:solidFill>
                <a:latin typeface="Arial"/>
              </a:defRPr>
            </a:pPr>
            <a:r>
              <a:t>Personalisation pathways.</a:t>
            </a:r>
          </a:p>
        </p:txBody>
      </p:sp>
      <p:sp>
        <p:nvSpPr>
          <p:cNvPr id="17" name="Oval 16"/>
          <p:cNvSpPr/>
          <p:nvPr/>
        </p:nvSpPr>
        <p:spPr>
          <a:xfrm>
            <a:off x="8595360" y="2807208"/>
            <a:ext cx="274320" cy="2743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201168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  <a:latin typeface="Trebuchet MS"/>
              </a:defRPr>
            </a:pPr>
            <a:r>
              <a:t>90-105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3291840"/>
            <a:ext cx="1554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Trebuchet MS"/>
              </a:defRPr>
            </a:pPr>
            <a:r>
              <a:t>5. Debate</a:t>
            </a:r>
          </a:p>
          <a:p>
            <a:pPr algn="ctr">
              <a:lnSpc>
                <a:spcPct val="120000"/>
              </a:lnSpc>
              <a:defRPr sz="1050">
                <a:solidFill>
                  <a:srgbClr val="9CA3AF"/>
                </a:solidFill>
                <a:latin typeface="Arial"/>
              </a:defRPr>
            </a:pPr>
            <a:r>
              <a:t>Academic integrity &amp; safety.</a:t>
            </a:r>
          </a:p>
        </p:txBody>
      </p:sp>
      <p:sp>
        <p:nvSpPr>
          <p:cNvPr id="20" name="Oval 19"/>
          <p:cNvSpPr/>
          <p:nvPr/>
        </p:nvSpPr>
        <p:spPr>
          <a:xfrm>
            <a:off x="10424160" y="2807208"/>
            <a:ext cx="274320" cy="27432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29800" y="201168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366F1"/>
                </a:solidFill>
                <a:latin typeface="Trebuchet MS"/>
              </a:defRPr>
            </a:pPr>
            <a:r>
              <a:t>105-120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9800" y="3291840"/>
            <a:ext cx="1554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Trebuchet MS"/>
              </a:defRPr>
            </a:pPr>
            <a:r>
              <a:t>6. Wrap Up</a:t>
            </a:r>
          </a:p>
          <a:p>
            <a:pPr algn="ctr">
              <a:lnSpc>
                <a:spcPct val="120000"/>
              </a:lnSpc>
              <a:defRPr sz="1050">
                <a:solidFill>
                  <a:srgbClr val="9CA3AF"/>
                </a:solidFill>
                <a:latin typeface="Arial"/>
              </a:defRPr>
            </a:pPr>
            <a:r>
              <a:t>Classroom action plans.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6B6D4"/>
                </a:solidFill>
                <a:latin typeface="Arial"/>
              </a:defRPr>
            </a:pPr>
            <a:r>
              <a:t>TOMOCLUB CURRICULUM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173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Activity 1: The Assessment Prompt Battle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6B6D4"/>
                </a:solidFill>
                <a:latin typeface="Trebuchet MS"/>
              </a:defRPr>
            </a:pPr>
            <a:r>
              <a:t>Interactive Breakout Challenge</a:t>
            </a:r>
          </a:p>
          <a:p>
            <a:pPr>
              <a:lnSpc>
                <a:spcPct val="135000"/>
              </a:lnSpc>
              <a:defRPr sz="1350">
                <a:solidFill>
                  <a:srgbClr val="9CA3AF"/>
                </a:solidFill>
                <a:latin typeface="Arial"/>
              </a:defRPr>
            </a:pPr>
            <a:r>
              <a:t>Instead of lecturing on prompt syntax, teachers enter cooperative grade-level breakouts with an active sandbox tool. Their goal is to build an optimized prompt, generate an assessment, and critically audit it.</a:t>
            </a:r>
            <a:br/>
            <a:br/>
            <a:r>
              <a:t>● Format Choices: Multiple Choice, Essay Rubric, or Exit Tickets.</a:t>
            </a:r>
            <a:br/>
            <a:r>
              <a:t>● Prompt Structure Used: Role-based context, topic variables, and explicit formatting constraints.</a:t>
            </a:r>
            <a:br/>
            <a:r>
              <a:t>● Deliverable: One generated assessment plus three written edits addressing readability or contextual alignment.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645920"/>
            <a:ext cx="5212080" cy="3840480"/>
          </a:xfrm>
          <a:prstGeom prst="roundRect">
            <a:avLst/>
          </a:prstGeom>
          <a:solidFill>
            <a:srgbClr val="151B2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37960" y="192024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 b="1">
                <a:solidFill>
                  <a:srgbClr val="6366F1"/>
                </a:solidFill>
                <a:latin typeface="Arial"/>
              </a:defRPr>
            </a:pPr>
            <a:r>
              <a:t>SAMPLE ROLE-BASED TEMPLATE</a:t>
            </a:r>
          </a:p>
          <a:p>
            <a:pPr>
              <a:spcAft>
                <a:spcPts val="1400"/>
              </a:spcAft>
              <a:defRPr sz="1200" b="1">
                <a:solidFill>
                  <a:srgbClr val="FFFFFF"/>
                </a:solidFill>
                <a:latin typeface="Courier New"/>
              </a:defRPr>
            </a:pPr>
            <a:r>
              <a:t>"Act as an expert [Grade Level] [Subject] teacher. Create a standards-aligned quiz on [Topic] that features [Format]. Add three distinct distractors per item and provide a detailed teacher grading rubric. Ensure the text avoids complex jargon and is readable for students with varying levels of literacy."</a:t>
            </a:r>
          </a:p>
          <a:p>
            <a:pPr>
              <a:defRPr sz="1100" i="1">
                <a:solidFill>
                  <a:srgbClr val="06B6D4"/>
                </a:solidFill>
                <a:latin typeface="Arial"/>
              </a:defRPr>
            </a:pPr>
            <a:r>
              <a:t>💡 Interactive builder is live in the web portfolio for teachers to copy-paste baseline prompts instantly!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6B6D4"/>
                </a:solidFill>
                <a:latin typeface="Arial"/>
              </a:defRPr>
            </a:pPr>
            <a:r>
              <a:t>TOMOCLUB CURRICULUM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173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Activity 2: Differentiating a Core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6B6D4"/>
                </a:solidFill>
                <a:latin typeface="Trebuchet MS"/>
              </a:defRPr>
            </a:pPr>
            <a:r>
              <a:t>The Differentiated Classroom Challenge</a:t>
            </a:r>
          </a:p>
          <a:p>
            <a:pPr>
              <a:lnSpc>
                <a:spcPct val="130000"/>
              </a:lnSpc>
              <a:defRPr sz="1300">
                <a:solidFill>
                  <a:srgbClr val="9CA3AF"/>
                </a:solidFill>
                <a:latin typeface="Arial"/>
              </a:defRPr>
            </a:pPr>
            <a:r>
              <a:t>Teachers differentiate the concept 'Ecosystem Disturbances' (Grade 8) for three highly realistic student profiles using standard AI engines:</a:t>
            </a:r>
            <a:br/>
            <a:br/>
            <a:r>
              <a:t>● Profile A: Struggling Reader (Lexile 600L)</a:t>
            </a:r>
            <a:br/>
            <a:r>
              <a:t>   Requires simplified vocabulary, shorter sentences, and analogical scaffolding.</a:t>
            </a:r>
            <a:br/>
            <a:r>
              <a:t>● Profile B: Multilingual Learner (ELL Level 2)</a:t>
            </a:r>
            <a:br/>
            <a:r>
              <a:t>   Requires dual-language vocabulary list, sentence starters, and bulleted steps.</a:t>
            </a:r>
            <a:br/>
            <a:r>
              <a:t>● Profile C: Advanced / Gifted Student</a:t>
            </a:r>
            <a:br/>
            <a:r>
              <a:t>   Requires high-rigor mathematical modeling prompt and competitive system inquiry.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645920"/>
            <a:ext cx="5212080" cy="3840480"/>
          </a:xfrm>
          <a:prstGeom prst="roundRect">
            <a:avLst/>
          </a:prstGeom>
          <a:solidFill>
            <a:srgbClr val="151B2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37960" y="2011680"/>
            <a:ext cx="4663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50" b="1">
                <a:solidFill>
                  <a:srgbClr val="10B981"/>
                </a:solidFill>
                <a:latin typeface="Arial"/>
              </a:defRPr>
            </a:pPr>
            <a:r>
              <a:t>CRUCIAL PEDAGOGICAL QUESTIONS</a:t>
            </a:r>
          </a:p>
          <a:p>
            <a:pPr>
              <a:spcAft>
                <a:spcPts val="2000"/>
              </a:spcAft>
              <a:defRPr sz="1700" i="1">
                <a:solidFill>
                  <a:srgbClr val="FFFFFF"/>
                </a:solidFill>
                <a:latin typeface="Trebuchet MS"/>
              </a:defRPr>
            </a:pPr>
            <a:r>
              <a:t>"How do we leverage AI to remove reading and accessibility barriers without removing the productive cognitive struggle required for real scientific learning?"</a:t>
            </a:r>
          </a:p>
          <a:p>
            <a:pPr>
              <a:defRPr sz="1100">
                <a:solidFill>
                  <a:srgbClr val="9CA3AF"/>
                </a:solidFill>
                <a:latin typeface="Arial"/>
              </a:defRPr>
            </a:pPr>
            <a:r>
              <a:t>💡 Strategy: Use AI to adapt the Lexile level while keeping the content standards and critical thinking prompts identical.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6B6D4"/>
                </a:solidFill>
                <a:latin typeface="Arial"/>
              </a:defRPr>
            </a:pPr>
            <a:r>
              <a:t>TOMOCLUB CURRICULUM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173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Academic Integrity &amp; Responsible AI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6B6D4"/>
                </a:solidFill>
                <a:latin typeface="Trebuchet MS"/>
              </a:defRPr>
            </a:pPr>
            <a:r>
              <a:t>Dismantling Plagiarism Detectors</a:t>
            </a:r>
          </a:p>
          <a:p>
            <a:pPr>
              <a:lnSpc>
                <a:spcPct val="135000"/>
              </a:lnSpc>
              <a:defRPr sz="1300">
                <a:solidFill>
                  <a:srgbClr val="9CA3AF"/>
                </a:solidFill>
                <a:latin typeface="Arial"/>
              </a:defRPr>
            </a:pPr>
            <a:r>
              <a:t>AI plagiarism detectors produce false positives, can be easily bypassed by paraphrasing tools, and are heavily biased against non-native English writers. We teach teachers to shift from surveillance to structural pedagogy:</a:t>
            </a:r>
            <a:br/>
            <a:br/>
            <a:r>
              <a:t>1. Grade the Process: Assess outlines, research drafts, and log prompt histories.</a:t>
            </a:r>
            <a:br/>
            <a:r>
              <a:t>2. Oral Defenses: Utilize 2-minute student presentations or voice memos.</a:t>
            </a:r>
            <a:br/>
            <a:r>
              <a:t>3. Hyper-Local Prompts: Tie assessments to personal reflections and local events.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645920"/>
            <a:ext cx="5212080" cy="3840480"/>
          </a:xfrm>
          <a:prstGeom prst="roundRect">
            <a:avLst/>
          </a:prstGeom>
          <a:solidFill>
            <a:srgbClr val="151B2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37960" y="192024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50" b="1">
                <a:solidFill>
                  <a:srgbClr val="F59E0B"/>
                </a:solidFill>
                <a:latin typeface="Arial"/>
              </a:defRPr>
            </a:pPr>
            <a:r>
              <a:t>RESPONSIBLE AI SAFETY CHECKLIST</a:t>
            </a:r>
          </a:p>
          <a:p>
            <a:pPr>
              <a:spcBef>
                <a:spcPts val="800"/>
              </a:spcBef>
              <a:defRPr sz="1350" b="1">
                <a:solidFill>
                  <a:srgbClr val="FFFFFF"/>
                </a:solidFill>
                <a:latin typeface="Trebuchet MS"/>
              </a:defRPr>
            </a:pPr>
            <a:r>
              <a:t>🔒 Student Data Privacy</a:t>
            </a:r>
          </a:p>
          <a:p>
            <a:pPr>
              <a:spcAft>
                <a:spcPts val="400"/>
              </a:spcAft>
              <a:defRPr sz="1100">
                <a:solidFill>
                  <a:srgbClr val="9CA3AF"/>
                </a:solidFill>
                <a:latin typeface="Arial"/>
              </a:defRPr>
            </a:pPr>
            <a:r>
              <a:t>Never upload student names, IDs, or identifiable writing samples to public AI models.</a:t>
            </a:r>
          </a:p>
          <a:p>
            <a:pPr>
              <a:spcBef>
                <a:spcPts val="800"/>
              </a:spcBef>
              <a:defRPr sz="1350" b="1">
                <a:solidFill>
                  <a:srgbClr val="FFFFFF"/>
                </a:solidFill>
                <a:latin typeface="Trebuchet MS"/>
              </a:defRPr>
            </a:pPr>
            <a:r>
              <a:t>👁️ Human-in-the-loop</a:t>
            </a:r>
          </a:p>
          <a:p>
            <a:pPr>
              <a:spcAft>
                <a:spcPts val="400"/>
              </a:spcAft>
              <a:defRPr sz="1100">
                <a:solidFill>
                  <a:srgbClr val="9CA3AF"/>
                </a:solidFill>
                <a:latin typeface="Arial"/>
              </a:defRPr>
            </a:pPr>
            <a:r>
              <a:t>Teachers must always audit and edit AI outputs before classroom deployment.</a:t>
            </a:r>
          </a:p>
          <a:p>
            <a:pPr>
              <a:spcBef>
                <a:spcPts val="800"/>
              </a:spcBef>
              <a:defRPr sz="1350" b="1">
                <a:solidFill>
                  <a:srgbClr val="FFFFFF"/>
                </a:solidFill>
                <a:latin typeface="Trebuchet MS"/>
              </a:defRPr>
            </a:pPr>
            <a:r>
              <a:t>🤝 Transparency Rules</a:t>
            </a:r>
          </a:p>
          <a:p>
            <a:pPr>
              <a:spcAft>
                <a:spcPts val="400"/>
              </a:spcAft>
              <a:defRPr sz="1100">
                <a:solidFill>
                  <a:srgbClr val="9CA3AF"/>
                </a:solidFill>
                <a:latin typeface="Arial"/>
              </a:defRPr>
            </a:pPr>
            <a:r>
              <a:t>Co-create clear boundaries with students on when AI is supportive vs when it is prohibited.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6B6D4"/>
                </a:solidFill>
                <a:latin typeface="Arial"/>
              </a:defRPr>
            </a:pPr>
            <a:r>
              <a:t>TOMOCLUB CURRICULUM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173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Monitoring &amp; Evaluation: Live Session Checks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3291840" cy="3840480"/>
          </a:xfrm>
          <a:prstGeom prst="roundRect">
            <a:avLst/>
          </a:prstGeom>
          <a:solidFill>
            <a:srgbClr val="151B2B"/>
          </a:solidFill>
          <a:ln w="12700">
            <a:solidFill>
              <a:srgbClr val="26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645920"/>
            <a:ext cx="3291840" cy="1097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7452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50" b="1">
                <a:solidFill>
                  <a:srgbClr val="6366F1"/>
                </a:solidFill>
                <a:latin typeface="Arial"/>
              </a:defRPr>
            </a:pPr>
            <a:r>
              <a:t>PRE-SESSION</a:t>
            </a:r>
          </a:p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Trebuchet MS"/>
              </a:defRPr>
            </a:pPr>
            <a:r>
              <a:t>Mentimeter Diagnostic</a:t>
            </a:r>
          </a:p>
          <a:p>
            <a:pPr>
              <a:lnSpc>
                <a:spcPct val="130000"/>
              </a:lnSpc>
              <a:defRPr sz="1200">
                <a:solidFill>
                  <a:srgbClr val="9CA3AF"/>
                </a:solidFill>
                <a:latin typeface="Arial"/>
              </a:defRPr>
            </a:pPr>
            <a:r>
              <a:t>A live anonymous poll checks baseline comfort levels, current AI usage frequency, and core concerns. Helps the facilitator adjust timing and emphasis of technical breakout slides.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645920"/>
            <a:ext cx="3291840" cy="3840480"/>
          </a:xfrm>
          <a:prstGeom prst="roundRect">
            <a:avLst/>
          </a:prstGeom>
          <a:solidFill>
            <a:srgbClr val="151B2B"/>
          </a:solidFill>
          <a:ln w="12700">
            <a:solidFill>
              <a:srgbClr val="26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34840" y="1645920"/>
            <a:ext cx="3291840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7452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50" b="1">
                <a:solidFill>
                  <a:srgbClr val="06B6D4"/>
                </a:solidFill>
                <a:latin typeface="Arial"/>
              </a:defRPr>
            </a:pPr>
            <a:r>
              <a:t>IN-SESSION</a:t>
            </a:r>
          </a:p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Trebuchet MS"/>
              </a:defRPr>
            </a:pPr>
            <a:r>
              <a:t>Padlet Peer Review</a:t>
            </a:r>
          </a:p>
          <a:p>
            <a:pPr>
              <a:lnSpc>
                <a:spcPct val="130000"/>
              </a:lnSpc>
              <a:defRPr sz="1200">
                <a:solidFill>
                  <a:srgbClr val="9CA3AF"/>
                </a:solidFill>
                <a:latin typeface="Arial"/>
              </a:defRPr>
            </a:pPr>
            <a:r>
              <a:t>Breakout deliverables are uploaded to a collaborative board. Facilitator conducts rapid visual evaluations using a 3-star check (Standard? Role? Readability constraints?).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1645920"/>
            <a:ext cx="3291840" cy="3840480"/>
          </a:xfrm>
          <a:prstGeom prst="roundRect">
            <a:avLst/>
          </a:prstGeom>
          <a:solidFill>
            <a:srgbClr val="151B2B"/>
          </a:solidFill>
          <a:ln w="12700">
            <a:solidFill>
              <a:srgbClr val="26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83880" y="1645920"/>
            <a:ext cx="3291840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87452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50" b="1">
                <a:solidFill>
                  <a:srgbClr val="10B981"/>
                </a:solidFill>
                <a:latin typeface="Arial"/>
              </a:defRPr>
            </a:pPr>
            <a:r>
              <a:t>EXIT PORTAL</a:t>
            </a:r>
          </a:p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Trebuchet MS"/>
              </a:defRPr>
            </a:pPr>
            <a:r>
              <a:t>Digital Exit Ticket</a:t>
            </a:r>
          </a:p>
          <a:p>
            <a:pPr>
              <a:lnSpc>
                <a:spcPct val="130000"/>
              </a:lnSpc>
              <a:defRPr sz="1200">
                <a:solidFill>
                  <a:srgbClr val="9CA3AF"/>
                </a:solidFill>
                <a:latin typeface="Arial"/>
              </a:defRPr>
            </a:pPr>
            <a:r>
              <a:t>A Google Form captures immediate self-reported confidence shifts, objective mastery checks, and Net Promoter Score (NPS). Target: &gt;85% completion rate, &gt;4.5 NPS.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6B6D4"/>
                </a:solidFill>
                <a:latin typeface="Arial"/>
              </a:defRPr>
            </a:pPr>
            <a:r>
              <a:t>TOMOCLUB CURRICULUM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173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Monitoring &amp; Evaluation: Async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6B6D4"/>
                </a:solidFill>
                <a:latin typeface="Trebuchet MS"/>
              </a:defRPr>
            </a:pPr>
            <a:r>
              <a:t>14-Day Performance Portfolio</a:t>
            </a:r>
          </a:p>
          <a:p>
            <a:pPr>
              <a:lnSpc>
                <a:spcPct val="135000"/>
              </a:lnSpc>
              <a:defRPr sz="1300">
                <a:solidFill>
                  <a:srgbClr val="9CA3AF"/>
                </a:solidFill>
                <a:latin typeface="Arial"/>
              </a:defRPr>
            </a:pPr>
            <a:r>
              <a:t>To guarantee true learning transfer, educators must submit a Classroom AI Adaptation Folder within 14 days of the session to receive professional development credit:</a:t>
            </a:r>
            <a:br/>
            <a:br/>
            <a:r>
              <a:t>● Deliverable 1: One standards-aligned AI generated assessment.</a:t>
            </a:r>
            <a:br/>
            <a:r>
              <a:t>● Deliverable 2: A 3-tier differentiated student material package.</a:t>
            </a:r>
            <a:br/>
            <a:r>
              <a:t>● Deliverable 3: A reflective Prompt Log detailing the specific human-in-the-loop audit edits applied during generation.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645920"/>
            <a:ext cx="5212080" cy="3840480"/>
          </a:xfrm>
          <a:prstGeom prst="roundRect">
            <a:avLst/>
          </a:prstGeom>
          <a:solidFill>
            <a:srgbClr val="151B2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37960" y="192024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50" b="1">
                <a:solidFill>
                  <a:srgbClr val="06B6D4"/>
                </a:solidFill>
                <a:latin typeface="Arial"/>
              </a:defRPr>
            </a:pPr>
            <a:r>
              <a:t>LONG-TERM IMPACT METRICS (30-90 DAYS)</a:t>
            </a:r>
          </a:p>
          <a:p>
            <a:pPr>
              <a:spcBef>
                <a:spcPts val="800"/>
              </a:spcBef>
              <a:defRPr sz="1350" b="1">
                <a:solidFill>
                  <a:srgbClr val="6366F1"/>
                </a:solidFill>
                <a:latin typeface="Trebuchet MS"/>
              </a:defRPr>
            </a:pPr>
            <a:r>
              <a:t>⏱️ Workload Reduction Index</a:t>
            </a:r>
          </a:p>
          <a:p>
            <a:pPr>
              <a:spcAft>
                <a:spcPts val="400"/>
              </a:spcAft>
              <a:defRPr sz="1100">
                <a:solidFill>
                  <a:srgbClr val="9CA3AF"/>
                </a:solidFill>
                <a:latin typeface="Arial"/>
              </a:defRPr>
            </a:pPr>
            <a:r>
              <a:t>Aim: &gt;3 Hours Saved per week on grading and preparation.</a:t>
            </a:r>
          </a:p>
          <a:p>
            <a:pPr>
              <a:spcBef>
                <a:spcPts val="800"/>
              </a:spcBef>
              <a:defRPr sz="1350" b="1">
                <a:solidFill>
                  <a:srgbClr val="10B981"/>
                </a:solidFill>
                <a:latin typeface="Trebuchet MS"/>
              </a:defRPr>
            </a:pPr>
            <a:r>
              <a:t>📈 Personalisation Adoption Rate</a:t>
            </a:r>
          </a:p>
          <a:p>
            <a:pPr>
              <a:spcAft>
                <a:spcPts val="400"/>
              </a:spcAft>
              <a:defRPr sz="1100">
                <a:solidFill>
                  <a:srgbClr val="9CA3AF"/>
                </a:solidFill>
                <a:latin typeface="Arial"/>
              </a:defRPr>
            </a:pPr>
            <a:r>
              <a:t>Aim: &gt;70% of teachers utilizing AI to adapt readability pathways.</a:t>
            </a:r>
          </a:p>
          <a:p>
            <a:pPr>
              <a:spcBef>
                <a:spcPts val="800"/>
              </a:spcBef>
              <a:defRPr sz="1350" b="1">
                <a:solidFill>
                  <a:srgbClr val="F59E0B"/>
                </a:solidFill>
                <a:latin typeface="Trebuchet MS"/>
              </a:defRPr>
            </a:pPr>
            <a:r>
              <a:t>🔄 Assessment Shift Ratio</a:t>
            </a:r>
          </a:p>
          <a:p>
            <a:pPr>
              <a:spcAft>
                <a:spcPts val="400"/>
              </a:spcAft>
              <a:defRPr sz="1100">
                <a:solidFill>
                  <a:srgbClr val="9CA3AF"/>
                </a:solidFill>
                <a:latin typeface="Arial"/>
              </a:defRPr>
            </a:pPr>
            <a:r>
              <a:t>Aim: &gt;50% reduction in simple text recall assessments in favor of process-based portfolios.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6B6D4"/>
                </a:solidFill>
                <a:latin typeface="Arial"/>
              </a:defRPr>
            </a:pPr>
            <a:r>
              <a:t>TOMOCLUB CURRICULUM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173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Format Adaptations: Sync vs Async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120640" cy="3931920"/>
          </a:xfrm>
          <a:prstGeom prst="roundRect">
            <a:avLst/>
          </a:prstGeom>
          <a:solidFill>
            <a:srgbClr val="151B2B"/>
          </a:solidFill>
          <a:ln w="12700">
            <a:solidFill>
              <a:srgbClr val="26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645920"/>
            <a:ext cx="5120640" cy="1097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366F1"/>
                </a:solidFill>
                <a:latin typeface="Trebuchet MS"/>
              </a:defRPr>
            </a:pPr>
            <a:r>
              <a:t>🖥️ Synchronous (Live Workshop)</a:t>
            </a:r>
          </a:p>
          <a:p>
            <a:pPr>
              <a:lnSpc>
                <a:spcPct val="135000"/>
              </a:lnSpc>
              <a:defRPr sz="1150">
                <a:solidFill>
                  <a:srgbClr val="9CA3AF"/>
                </a:solidFill>
                <a:latin typeface="Arial"/>
              </a:defRPr>
            </a:pPr>
            <a:r>
              <a:t>Ideal for school district PD days, promoting real-time collaborative community building:</a:t>
            </a:r>
            <a:br/>
            <a:br/>
            <a:r>
              <a:t>● Collaborative Breakouts: Grade-level prompt design battles on Padlet.</a:t>
            </a:r>
            <a:br/>
            <a:r>
              <a:t>● Facilitator Checks: Active micro-critiques of prompt formats in chat.</a:t>
            </a:r>
            <a:br/>
            <a:r>
              <a:t>● Peer Critique: Group members review and edit colleagues' assessment questions live.</a:t>
            </a:r>
            <a:br/>
            <a:r>
              <a:t>● Q&amp;A: Immediate support resolving technical errors or prompt limitations.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45920"/>
            <a:ext cx="5120640" cy="3931920"/>
          </a:xfrm>
          <a:prstGeom prst="roundRect">
            <a:avLst/>
          </a:prstGeom>
          <a:solidFill>
            <a:srgbClr val="151B2B"/>
          </a:solidFill>
          <a:ln w="12700">
            <a:solidFill>
              <a:srgbClr val="26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63640" y="1645920"/>
            <a:ext cx="5120640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92024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6B6D4"/>
                </a:solidFill>
                <a:latin typeface="Trebuchet MS"/>
              </a:defRPr>
            </a:pPr>
            <a:r>
              <a:t>🕒 Asynchronous (Self-Paced)</a:t>
            </a:r>
          </a:p>
          <a:p>
            <a:pPr>
              <a:lnSpc>
                <a:spcPct val="135000"/>
              </a:lnSpc>
              <a:defRPr sz="1150">
                <a:solidFill>
                  <a:srgbClr val="9CA3AF"/>
                </a:solidFill>
                <a:latin typeface="Arial"/>
              </a:defRPr>
            </a:pPr>
            <a:r>
              <a:t>Highly flexible, modular deployment tailored for self-paced district networks:</a:t>
            </a:r>
            <a:br/>
            <a:br/>
            <a:r>
              <a:t>● Video Micro-Lessons: 6 bite-sized, 5-minute videos with integrated check-in questions using Edpuzzle.</a:t>
            </a:r>
            <a:br/>
            <a:r>
              <a:t>● Discussion Boards: Digital prompt battles hosted in LMS forums.</a:t>
            </a:r>
            <a:br/>
            <a:r>
              <a:t>● Peer Audit Tasks: Required peer audits of 2 colleagues' prompt outputs.</a:t>
            </a:r>
            <a:br/>
            <a:r>
              <a:t>● Resource Library: Permanent access to copyable prompt templates and pre-audited assessments.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261104" y="1371600"/>
            <a:ext cx="3657600" cy="3657600"/>
          </a:xfrm>
          <a:prstGeom prst="ellipse">
            <a:avLst/>
          </a:prstGeom>
          <a:solidFill>
            <a:srgbClr val="10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575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400"/>
              </a:spcAft>
              <a:defRPr sz="2200" b="1" i="1">
                <a:solidFill>
                  <a:srgbClr val="FFFFFF"/>
                </a:solidFill>
                <a:latin typeface="Trebuchet MS"/>
              </a:defRPr>
            </a:pPr>
            <a:r>
              <a:t>"Empowering teachers with ethical, time-saving co-pilots so they can spend their energy where it matters most: building deep, transformational human relationships with students."</a:t>
            </a:r>
          </a:p>
          <a:p>
            <a:pPr algn="ctr">
              <a:spcAft>
                <a:spcPts val="1000"/>
              </a:spcAft>
              <a:defRPr sz="3600" b="1">
                <a:solidFill>
                  <a:srgbClr val="06B6D4"/>
                </a:solidFill>
                <a:latin typeface="Trebuchet MS"/>
              </a:defRPr>
            </a:pPr>
            <a:r>
              <a:t>Thank You!</a:t>
            </a:r>
          </a:p>
          <a:p>
            <a:pPr algn="ctr">
              <a:defRPr sz="1100" b="1">
                <a:solidFill>
                  <a:srgbClr val="9CA3AF"/>
                </a:solidFill>
                <a:latin typeface="Arial"/>
              </a:defRPr>
            </a:pPr>
            <a:r>
              <a:t>Pramit Das | Curriculum Development Proposal | TomoClub Submission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